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55000">
                <a:srgbClr val="12101E"/>
              </a:gs>
              <a:gs pos="100000">
                <a:srgbClr val="05050A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-1280160"/>
            <a:ext cx="4754880" cy="42062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1E3"/>
              </a:gs>
              <a:gs pos="100000">
                <a:srgbClr val="0A0A0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3108960"/>
            <a:ext cx="4937760" cy="4572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C4899"/>
              </a:gs>
              <a:gs pos="60000">
                <a:srgbClr val="6E216E"/>
              </a:gs>
              <a:gs pos="100000">
                <a:srgbClr val="0A0A0F"/>
              </a:gs>
            </a:gsLst>
            <a:lin ang="18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566928"/>
            <a:ext cx="3337560" cy="384048"/>
          </a:xfrm>
          <a:prstGeom prst="roundRect">
            <a:avLst/>
          </a:prstGeom>
          <a:solidFill>
            <a:srgbClr val="1A1A20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690372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566928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60">
                <a:solidFill>
                  <a:srgbClr val="A1A1A6"/>
                </a:solidFill>
                <a:latin typeface="Arial"/>
              </a:rPr>
              <a:t>BUILT FOR BROADBAND SERVICE PROVIDERS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78992"/>
            <a:ext cx="7863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spc="-20">
                <a:solidFill>
                  <a:srgbClr val="FFFFFF"/>
                </a:solidFill>
                <a:latin typeface="Arial"/>
              </a:rPr>
              <a:t>Scout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spc="-10">
                <a:solidFill>
                  <a:srgbClr val="FFFFFF"/>
                </a:solidFill>
                <a:latin typeface="Arial"/>
              </a:rPr>
              <a:t>Know your market </a:t>
            </a:r>
            <a:r>
              <a:rPr sz="3000" b="1" spc="-10">
                <a:solidFill>
                  <a:srgbClr val="0071E3"/>
                </a:solidFill>
                <a:latin typeface="Arial"/>
              </a:rPr>
              <a:t>before they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1488"/>
            <a:ext cx="7040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spc="0">
                <a:solidFill>
                  <a:srgbClr val="E8E8ED"/>
                </a:solidFill>
                <a:latin typeface="Arial"/>
              </a:rPr>
              <a:t>Scout turns a list of ZIP codes into a complete competitive briefing for broadband providers — overlap, technology mix, demographics, sentiment, and recent launches, plus a ranked list of opportunities for your next move.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977639"/>
            <a:ext cx="1572768" cy="841248"/>
          </a:xfrm>
          <a:prstGeom prst="roundRect">
            <a:avLst/>
          </a:prstGeom>
          <a:solidFill>
            <a:srgbClr val="161618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78224"/>
            <a:ext cx="15727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spc="0">
                <a:solidFill>
                  <a:srgbClr val="FFFFFF"/>
                </a:solidFill>
                <a:latin typeface="Arial"/>
              </a:rPr>
              <a:t>FCC BDC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43984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spc="40">
                <a:solidFill>
                  <a:srgbClr val="A1A1A6"/>
                </a:solidFill>
                <a:latin typeface="Arial"/>
              </a:rPr>
              <a:t>COVERAGE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977639"/>
            <a:ext cx="1572768" cy="841248"/>
          </a:xfrm>
          <a:prstGeom prst="roundRect">
            <a:avLst/>
          </a:prstGeom>
          <a:solidFill>
            <a:srgbClr val="161618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4078224"/>
            <a:ext cx="15727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spc="0">
                <a:solidFill>
                  <a:srgbClr val="FFFFFF"/>
                </a:solidFill>
                <a:latin typeface="Arial"/>
              </a:rPr>
              <a:t>Census ACS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443984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spc="40">
                <a:solidFill>
                  <a:srgbClr val="A1A1A6"/>
                </a:solidFill>
                <a:latin typeface="Arial"/>
              </a:rPr>
              <a:t>DEMOGRAPHICS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977639"/>
            <a:ext cx="1572768" cy="841248"/>
          </a:xfrm>
          <a:prstGeom prst="roundRect">
            <a:avLst/>
          </a:prstGeom>
          <a:solidFill>
            <a:srgbClr val="161618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4078224"/>
            <a:ext cx="15727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spc="0">
                <a:solidFill>
                  <a:srgbClr val="FFFFFF"/>
                </a:solidFill>
                <a:latin typeface="Arial"/>
              </a:rPr>
              <a:t>A–F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443984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spc="40">
                <a:solidFill>
                  <a:srgbClr val="A1A1A6"/>
                </a:solidFill>
                <a:latin typeface="Arial"/>
              </a:rPr>
              <a:t>AI READINESS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977639"/>
            <a:ext cx="1572768" cy="841248"/>
          </a:xfrm>
          <a:prstGeom prst="roundRect">
            <a:avLst/>
          </a:prstGeom>
          <a:solidFill>
            <a:srgbClr val="161618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078224"/>
            <a:ext cx="15727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spc="0">
                <a:solidFill>
                  <a:srgbClr val="FFFFFF"/>
                </a:solidFill>
                <a:latin typeface="Arial"/>
              </a:rPr>
              <a:t>1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443984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spc="40">
                <a:solidFill>
                  <a:srgbClr val="A1A1A6"/>
                </a:solidFill>
                <a:latin typeface="Arial"/>
              </a:rPr>
              <a:t>SHAREABLE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566928"/>
            <a:ext cx="3657600" cy="1335024"/>
          </a:xfrm>
          <a:prstGeom prst="roundRect">
            <a:avLst/>
          </a:prstGeom>
          <a:solidFill>
            <a:srgbClr val="161618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566928"/>
            <a:ext cx="82296" cy="1335024"/>
          </a:xfrm>
          <a:prstGeom prst="rect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731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0">
                <a:solidFill>
                  <a:srgbClr val="FFFFFF"/>
                </a:solidFill>
                <a:latin typeface="Arial"/>
              </a:rPr>
              <a:t>Competitor 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1133856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0">
                <a:solidFill>
                  <a:srgbClr val="A1A1A6"/>
                </a:solidFill>
                <a:latin typeface="Arial"/>
              </a:rPr>
              <a:t>Every provider in your footprint — technology, speeds, and where overlap is densest.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020824"/>
            <a:ext cx="3657600" cy="1335024"/>
          </a:xfrm>
          <a:prstGeom prst="roundRect">
            <a:avLst/>
          </a:prstGeom>
          <a:solidFill>
            <a:srgbClr val="161618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2020824"/>
            <a:ext cx="82296" cy="1335024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21854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0">
                <a:solidFill>
                  <a:srgbClr val="FFFFFF"/>
                </a:solidFill>
                <a:latin typeface="Arial"/>
              </a:rPr>
              <a:t>Ranked opportunities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587752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0">
                <a:solidFill>
                  <a:srgbClr val="A1A1A6"/>
                </a:solidFill>
                <a:latin typeface="Arial"/>
              </a:rPr>
              <a:t>Whitespace, counter-launches &amp; civic plays — each tied to evidence from your ZIPs.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474720"/>
            <a:ext cx="3657600" cy="1335024"/>
          </a:xfrm>
          <a:prstGeom prst="roundRect">
            <a:avLst/>
          </a:prstGeom>
          <a:solidFill>
            <a:srgbClr val="161618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474720"/>
            <a:ext cx="82296" cy="133502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2" y="363931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0">
                <a:solidFill>
                  <a:srgbClr val="FFFFFF"/>
                </a:solidFill>
                <a:latin typeface="Arial"/>
              </a:rPr>
              <a:t>AI readiness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404164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0">
                <a:solidFill>
                  <a:srgbClr val="A1A1A6"/>
                </a:solidFill>
                <a:latin typeface="Arial"/>
              </a:rPr>
              <a:t>Can AI assistants find &amp; recommend you? Graded A–F on crawlers, schema &amp; content.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928616"/>
            <a:ext cx="3657600" cy="1335024"/>
          </a:xfrm>
          <a:prstGeom prst="roundRect">
            <a:avLst/>
          </a:prstGeom>
          <a:solidFill>
            <a:srgbClr val="161618"/>
          </a:solidFill>
          <a:ln w="9525">
            <a:solidFill>
              <a:srgbClr val="33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928616"/>
            <a:ext cx="82296" cy="13350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2" y="50932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spc="0">
                <a:solidFill>
                  <a:srgbClr val="FFFFFF"/>
                </a:solidFill>
                <a:latin typeface="Arial"/>
              </a:rPr>
              <a:t>Sentiment + launch radar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2" y="5495544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spc="0">
                <a:solidFill>
                  <a:srgbClr val="A1A1A6"/>
                </a:solidFill>
                <a:latin typeface="Arial"/>
              </a:rPr>
              <a:t>Competitor review scores and what rivals just launched — FWA, fiber, smart home.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20">
                <a:solidFill>
                  <a:srgbClr val="A1A1A6"/>
                </a:solidFill>
                <a:latin typeface="Arial"/>
              </a:rPr>
              <a:t>No login  ·  Shareable link  ·  Next.js 15 on Vercel  ·  Solutions: SmartHome · SmartTown · SmartMDU · Home OfficeIQ · SmartBiz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